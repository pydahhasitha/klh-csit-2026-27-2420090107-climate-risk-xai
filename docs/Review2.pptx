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7" r:id="rId5"/>
    <p:sldId id="268" r:id="rId6"/>
    <p:sldId id="261" r:id="rId7"/>
    <p:sldId id="259" r:id="rId8"/>
    <p:sldId id="272" r:id="rId9"/>
    <p:sldId id="262" r:id="rId10"/>
    <p:sldId id="260" r:id="rId11"/>
    <p:sldId id="265" r:id="rId12"/>
    <p:sldId id="264" r:id="rId13"/>
    <p:sldId id="266" r:id="rId14"/>
    <p:sldId id="269" r:id="rId15"/>
    <p:sldId id="270" r:id="rId16"/>
    <p:sldId id="271" r:id="rId17"/>
    <p:sldId id="273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457" y="1465006"/>
            <a:ext cx="11464413" cy="50144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VISUALIZATION(24DSB3101)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AI-Driven Big Data Analytics Framework for Climate Prediction and Environmental Risk Assessment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– 6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REVIEW-2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2420030591 – L. Mrudani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2420090003 – Sri Kruthi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2420090107 – P. Hasitha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271" y="1591116"/>
            <a:ext cx="1162172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Methodology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r>
              <a:rPr lang="en-US" sz="2000" b="1" dirty="0"/>
              <a:t>1. Proposed Method / Approach</a:t>
            </a:r>
            <a:endParaRPr lang="en-US" sz="2000" b="1" dirty="0"/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Developed an Explainable AI-based Environmental Disaster Risk Prediction Framework.</a:t>
            </a:r>
            <a:endParaRPr lang="en-US" sz="2000" dirty="0"/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Combines historical environmental data, machine learning, risk scoring, and real-time weather data.</a:t>
            </a:r>
            <a:endParaRPr lang="en-US" sz="2000" dirty="0"/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workflow includes data preprocessing → feature analysis → ML prediction → risk assessment → XAI → dashboard.</a:t>
            </a:r>
            <a:endParaRPr lang="en-US" sz="2000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Clr>
                <a:schemeClr val="tx1"/>
              </a:buClr>
            </a:pPr>
            <a:r>
              <a:rPr lang="en-US" sz="2000" b="1" dirty="0"/>
              <a:t>2. Dataset Collection &amp; Data Preparation</a:t>
            </a:r>
            <a:endParaRPr lang="en-US" sz="2000" b="1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Collected and integrated three environmental datasets from different sources.</a:t>
            </a:r>
            <a:endParaRPr lang="en-US" sz="2000" dirty="0"/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Performed data cleaning, missing-value handling, feature selection, and normalization.</a:t>
            </a:r>
            <a:endParaRPr lang="en-US" sz="2000" dirty="0"/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Combined relevant environmental parameters such as temperature, humidity, rainfall, wind speed, pressure.</a:t>
            </a:r>
            <a:endParaRPr lang="en-US" sz="2000" b="1" dirty="0"/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Created additional seasonal/time-based features such as DOY_SIN and DOY_COS.</a:t>
            </a:r>
            <a:endParaRPr lang="en-US" sz="2000" dirty="0"/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Prepared the final dataset for disaster-risk classification.</a:t>
            </a:r>
            <a:endParaRPr lang="en-US" sz="2000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271" y="1591116"/>
            <a:ext cx="11621729" cy="541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Methodology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3. ML Models &amp; Model Combination</a:t>
            </a:r>
            <a:endParaRPr lang="en-I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Trained and evaluated multiple ML classification models on the prepared dataset.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ML Models Used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Random Forest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Support Vector Machine (SVM)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Comparative evaluation of models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Final Proposed Model:  Hybridized Logistic Regression and Random Forest </a:t>
            </a:r>
            <a:endParaRPr lang="en-IN" b="1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Compared their performance using Accuracy, Precision, Recall, F1-score, ROC-AUC, and Confusion Matrix.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Explored combinations/ensemble approaches using 2–3 models to improve prediction reliability.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Analyzed the influence of environmental features on disaster predictions.</a:t>
            </a:r>
            <a:endParaRPr lang="en-IN" sz="2000" dirty="0"/>
          </a:p>
          <a:p>
            <a:r>
              <a:rPr lang="en-US" b="1" dirty="0"/>
              <a:t>4. Final Proposed Model</a:t>
            </a:r>
            <a:endParaRPr lang="en-I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Selected the final Logistic Regression-based model as the proposed prediction model.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Applied class balancing, median imputation, and feature standardization.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Used a tuned 0.71 decision threshold for disaster classification.</a:t>
            </a:r>
            <a:endParaRPr lang="en-IN" sz="2000" b="1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Integrated the model with a historical environmental risk score + real-time weather API + XAI.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Implemented the complete system through a </a:t>
            </a:r>
            <a:r>
              <a:rPr lang="en-US" dirty="0" err="1"/>
              <a:t>Streamlit</a:t>
            </a:r>
            <a:r>
              <a:rPr lang="en-US" dirty="0"/>
              <a:t> dashboard.</a:t>
            </a:r>
            <a:endParaRPr lang="en-IN" sz="2000" dirty="0"/>
          </a:p>
          <a:p>
            <a:pPr>
              <a:buClr>
                <a:schemeClr val="tx1"/>
              </a:buClr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272" y="1591116"/>
            <a:ext cx="62434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Innovation/ Novelty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Historical + Real-Time Risk Assessment </a:t>
            </a:r>
            <a:r>
              <a:rPr lang="en-US" dirty="0"/>
              <a:t>– Combines historical environmental patterns with live weather and air-quality data.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Multi-Factor Risk Analysis </a:t>
            </a:r>
            <a:r>
              <a:rPr lang="en-US" dirty="0"/>
              <a:t>– Uses temperature, humidity, rainfall, wind, pressure, solar radiation, and seasonal features.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Data-Driven Risk Scoring </a:t>
            </a:r>
            <a:r>
              <a:rPr lang="en-US" dirty="0"/>
              <a:t>– Converts historical disaster patterns into an interpretable environmental risk score.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Explainable AI (XAI) </a:t>
            </a:r>
            <a:r>
              <a:rPr lang="en-US" dirty="0"/>
              <a:t>– Shows how individual environmental features contribute to the prediction.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Integrated </a:t>
            </a:r>
            <a:r>
              <a:rPr lang="en-US" b="1" dirty="0" err="1"/>
              <a:t>Streamlit</a:t>
            </a:r>
            <a:r>
              <a:rPr lang="en-US" b="1" dirty="0"/>
              <a:t> Dashboard </a:t>
            </a:r>
            <a:r>
              <a:rPr lang="en-US" dirty="0"/>
              <a:t>– Connects API data, ML prediction, risk scoring, and explanations in one platform.</a:t>
            </a:r>
            <a:endParaRPr lang="en-US" dirty="0"/>
          </a:p>
          <a:p>
            <a:r>
              <a:rPr lang="en-US" sz="2000" b="1" dirty="0"/>
              <a:t>“Integration of Three Heterogeneous Datasets for Unified Environmental Disaster Risk Prediction.”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609" y="1591117"/>
            <a:ext cx="5216813" cy="3477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System Design and System Architecture</a:t>
            </a:r>
            <a:endParaRPr lang="en-IN" sz="2000" b="1" dirty="0"/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90" y="1887794"/>
            <a:ext cx="10291020" cy="4970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71948" y="1966452"/>
            <a:ext cx="473914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System Layers</a:t>
            </a:r>
            <a:r>
              <a:rPr lang="en-IN" b="1" dirty="0"/>
              <a:t>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Layer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Processing &amp; Analytics Layer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ML/DL Prediction Layer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XAI Layer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API Integration Layer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Visualization Layer </a:t>
            </a:r>
            <a:endParaRPr lang="en-IN" dirty="0"/>
          </a:p>
          <a:p>
            <a:r>
              <a:rPr lang="en-IN" dirty="0"/>
              <a:t>The framework combines Big Data processing, prediction, risk classification, XAI, and a dashboard.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79" y="1445342"/>
            <a:ext cx="6387547" cy="4909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71948" y="1966452"/>
            <a:ext cx="5279923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Project Difficulties &amp; Error Handling</a:t>
            </a:r>
            <a:r>
              <a:rPr lang="en-IN" b="1" dirty="0"/>
              <a:t>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Dataset Integration</a:t>
            </a:r>
            <a:r>
              <a:rPr lang="en-US" dirty="0"/>
              <a:t> → Different datasets required cleaning and feature alignment.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Class Imbalance </a:t>
            </a:r>
            <a:r>
              <a:rPr lang="en-US" dirty="0"/>
              <a:t>→ Applied imputation and class-balancing techniques.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Feature Mismatch</a:t>
            </a:r>
            <a:r>
              <a:rPr lang="en-US" dirty="0"/>
              <a:t> → Ensured identical training and prediction features.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Kurnool Prediction Issue </a:t>
            </a:r>
            <a:r>
              <a:rPr lang="en-US" dirty="0"/>
              <a:t>→ High ML probability led to investigation and addition of a historical risk-scoring layer.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API &amp; Unit Issues </a:t>
            </a:r>
            <a:r>
              <a:rPr lang="en-US" dirty="0"/>
              <a:t>→ Handled real-time data formatting and </a:t>
            </a:r>
            <a:r>
              <a:rPr lang="en-US" dirty="0" err="1"/>
              <a:t>hPa</a:t>
            </a:r>
            <a:r>
              <a:rPr lang="en-US" dirty="0"/>
              <a:t>–kPa conversion.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1" y="2050638"/>
            <a:ext cx="5826033" cy="38840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Implementation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/>
              <a:t>Data Preparation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dirty="0"/>
              <a:t>Collect and clean environmental datasets and handled missing/inconsistent data </a:t>
            </a:r>
            <a:endParaRPr lang="en-IN" dirty="0"/>
          </a:p>
          <a:p>
            <a:pPr lvl="0"/>
            <a:r>
              <a:rPr lang="en-IN" b="1" dirty="0"/>
              <a:t>Big Data Processing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dirty="0"/>
              <a:t>Process datasets using </a:t>
            </a:r>
            <a:r>
              <a:rPr lang="en-IN" dirty="0" err="1"/>
              <a:t>PySpark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dirty="0"/>
              <a:t>Perform EDA and feature analysis </a:t>
            </a:r>
            <a:endParaRPr lang="en-IN" dirty="0"/>
          </a:p>
          <a:p>
            <a:pPr lvl="0"/>
            <a:r>
              <a:rPr lang="en-IN" b="1" dirty="0"/>
              <a:t>Model Development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dirty="0"/>
              <a:t>Train ML/DL prediction models (Random Forest, </a:t>
            </a:r>
            <a:r>
              <a:rPr lang="en-IN" dirty="0" err="1"/>
              <a:t>XGBoost</a:t>
            </a:r>
            <a:r>
              <a:rPr lang="en-IN" dirty="0"/>
              <a:t>, </a:t>
            </a:r>
            <a:endParaRPr lang="en-IN" dirty="0"/>
          </a:p>
          <a:p>
            <a:pPr lvl="1"/>
            <a:r>
              <a:rPr lang="en-IN" dirty="0"/>
              <a:t>Logistic Regression, SVM)</a:t>
            </a:r>
            <a:endParaRPr lang="en-IN" dirty="0"/>
          </a:p>
          <a:p>
            <a:pPr lvl="1"/>
            <a:r>
              <a:rPr lang="en-IN" dirty="0"/>
              <a:t>Hybridised Random Forest and Logistic Regression</a:t>
            </a:r>
            <a:endParaRPr lang="en-IN" dirty="0"/>
          </a:p>
          <a:p>
            <a:pPr lvl="1"/>
            <a:r>
              <a:rPr lang="en-IN" dirty="0"/>
              <a:t>Generate environmental risk predictions</a:t>
            </a:r>
            <a:endParaRPr lang="en-IN" dirty="0"/>
          </a:p>
          <a:p>
            <a:pPr lvl="0"/>
            <a:r>
              <a:rPr lang="en-IN" b="1" dirty="0"/>
              <a:t>Explainability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dirty="0"/>
              <a:t>Apply SHAP and LIME </a:t>
            </a:r>
            <a:endParaRPr lang="en-IN" dirty="0"/>
          </a:p>
          <a:p>
            <a:pPr lvl="1"/>
            <a:r>
              <a:rPr lang="en-IN" dirty="0"/>
              <a:t>Identify influential environmental factors </a:t>
            </a:r>
            <a:endParaRPr lang="en-IN" dirty="0"/>
          </a:p>
          <a:p>
            <a:pPr lvl="0"/>
            <a:r>
              <a:rPr lang="en-IN" b="1" dirty="0"/>
              <a:t>API Integration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dirty="0"/>
              <a:t>Expose prediction and risk outputs through APIs </a:t>
            </a:r>
            <a:endParaRPr lang="en-IN" dirty="0"/>
          </a:p>
          <a:p>
            <a:pPr lvl="1"/>
            <a:r>
              <a:rPr lang="en-IN" dirty="0"/>
              <a:t>Connect ML outputs with the application interface</a:t>
            </a:r>
            <a:endParaRPr lang="en-IN" dirty="0"/>
          </a:p>
          <a:p>
            <a:r>
              <a:rPr lang="en-IN" sz="2000" b="1" dirty="0"/>
              <a:t>Dashboard</a:t>
            </a:r>
            <a:endParaRPr lang="en-IN" sz="2000" dirty="0"/>
          </a:p>
          <a:p>
            <a:pPr lvl="0"/>
            <a:r>
              <a:rPr lang="en-IN" sz="2000" dirty="0"/>
              <a:t>Display predictions, trends, risk levels, and explanations</a:t>
            </a:r>
            <a:endParaRPr lang="en-IN" sz="2000" dirty="0"/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46441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Modern Tools &amp; Technologies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/>
              <a:t>Python</a:t>
            </a:r>
            <a:r>
              <a:rPr lang="en-IN" dirty="0"/>
              <a:t> — Core programming and data analysis </a:t>
            </a:r>
            <a:endParaRPr lang="en-IN" dirty="0"/>
          </a:p>
          <a:p>
            <a:pPr lvl="0"/>
            <a:r>
              <a:rPr lang="en-IN" b="1" dirty="0"/>
              <a:t>Pandas &amp; NumPy</a:t>
            </a:r>
            <a:r>
              <a:rPr lang="en-IN" dirty="0"/>
              <a:t> — Data preprocessing and analysis </a:t>
            </a:r>
            <a:endParaRPr lang="en-IN" dirty="0"/>
          </a:p>
          <a:p>
            <a:pPr lvl="0"/>
            <a:r>
              <a:rPr lang="en-IN" b="1" dirty="0" err="1"/>
              <a:t>PySpark</a:t>
            </a:r>
            <a:r>
              <a:rPr lang="en-IN" dirty="0"/>
              <a:t> — Large-scale Big Data processing </a:t>
            </a:r>
            <a:endParaRPr lang="en-IN" dirty="0"/>
          </a:p>
          <a:p>
            <a:pPr lvl="0"/>
            <a:r>
              <a:rPr lang="en-IN" b="1" dirty="0"/>
              <a:t>Scikit-learn</a:t>
            </a:r>
            <a:r>
              <a:rPr lang="en-IN" dirty="0"/>
              <a:t> — Machine Learning implementation </a:t>
            </a:r>
            <a:endParaRPr lang="en-IN" dirty="0"/>
          </a:p>
          <a:p>
            <a:pPr lvl="0"/>
            <a:r>
              <a:rPr lang="en-IN" b="1" dirty="0"/>
              <a:t>Random Forest &amp; </a:t>
            </a:r>
            <a:r>
              <a:rPr lang="en-IN" b="1" dirty="0" err="1"/>
              <a:t>XGBoost</a:t>
            </a:r>
            <a:r>
              <a:rPr lang="en-IN" dirty="0"/>
              <a:t> — Predictive modelling</a:t>
            </a:r>
            <a:endParaRPr lang="en-IN" dirty="0"/>
          </a:p>
          <a:p>
            <a:pPr lvl="0"/>
            <a:r>
              <a:rPr lang="en-IN" sz="2000" b="1" dirty="0"/>
              <a:t>LSTM / DL Models</a:t>
            </a:r>
            <a:r>
              <a:rPr lang="en-IN" sz="2000" dirty="0"/>
              <a:t> — Time-series prediction </a:t>
            </a:r>
            <a:endParaRPr lang="en-IN" sz="2000" dirty="0"/>
          </a:p>
          <a:p>
            <a:pPr lvl="0"/>
            <a:r>
              <a:rPr lang="en-IN" sz="2000" b="1" dirty="0"/>
              <a:t>SHAP &amp; LIME</a:t>
            </a:r>
            <a:r>
              <a:rPr lang="en-IN" sz="2000" dirty="0"/>
              <a:t> — Explainable AI </a:t>
            </a:r>
            <a:endParaRPr lang="en-IN" sz="2000" dirty="0"/>
          </a:p>
          <a:p>
            <a:pPr lvl="0"/>
            <a:r>
              <a:rPr lang="en-IN" sz="2000" b="1" dirty="0"/>
              <a:t>REST APIs</a:t>
            </a:r>
            <a:r>
              <a:rPr lang="en-IN" sz="2000" dirty="0"/>
              <a:t> — Communication between ML system and application </a:t>
            </a:r>
            <a:endParaRPr lang="en-IN" sz="2000" dirty="0"/>
          </a:p>
          <a:p>
            <a:pPr lvl="0"/>
            <a:r>
              <a:rPr lang="en-IN" sz="2000" b="1" dirty="0"/>
              <a:t>API Integration</a:t>
            </a:r>
            <a:r>
              <a:rPr lang="en-IN" sz="2000" dirty="0"/>
              <a:t> — Connects predictions with the user interface </a:t>
            </a:r>
            <a:endParaRPr lang="en-IN" sz="2000" dirty="0"/>
          </a:p>
          <a:p>
            <a:pPr lvl="0"/>
            <a:r>
              <a:rPr lang="en-IN" sz="2000" b="1" dirty="0"/>
              <a:t>Power BI / Python / </a:t>
            </a:r>
            <a:r>
              <a:rPr lang="en-IN" sz="2000" b="1" dirty="0" err="1"/>
              <a:t>Streamlit</a:t>
            </a:r>
            <a:r>
              <a:rPr lang="en-IN" sz="2000" dirty="0"/>
              <a:t> — Visualization and dashboard</a:t>
            </a:r>
            <a:endParaRPr lang="en-IN" sz="2000" dirty="0"/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284" y="1681316"/>
            <a:ext cx="76101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Processed and </a:t>
            </a:r>
            <a:r>
              <a:rPr lang="en-IN" dirty="0" err="1"/>
              <a:t>analyzed</a:t>
            </a:r>
            <a:r>
              <a:rPr lang="en-IN" dirty="0"/>
              <a:t> climate/environmental data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Identified patterns and relationships among environmental variables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Generated climate and environmental risk predictions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Classified environmental conditions into: 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Low Risk</a:t>
            </a:r>
            <a:r>
              <a:rPr lang="en-IN" dirty="0"/>
              <a:t> 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Medium Risk</a:t>
            </a:r>
            <a:r>
              <a:rPr lang="en-IN" dirty="0"/>
              <a:t> 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High Risk</a:t>
            </a:r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Identified important factors influencing predictions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Generated interpretable explanations using SHAP and LIME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Integrated prediction results with the application through APIs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Presented results through an interactive dashboard</a:t>
            </a:r>
            <a:endParaRPr lang="en-IN" dirty="0"/>
          </a:p>
          <a:p>
            <a:pPr lvl="1"/>
            <a:endParaRPr lang="en-IN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462" y="1838631"/>
            <a:ext cx="4278261" cy="2852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Performance Evaluation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284" y="1681316"/>
            <a:ext cx="115430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system is evaluated across multiple dimensions:</a:t>
            </a:r>
            <a:endParaRPr lang="en-IN" dirty="0"/>
          </a:p>
          <a:p>
            <a:pPr marL="285750" lvl="0" indent="-285750">
              <a:buFont typeface="Calibri" panose="020F0502020204030204" pitchFamily="34" charset="0"/>
              <a:buChar char="•"/>
            </a:pPr>
            <a:r>
              <a:rPr lang="en-IN" b="1" dirty="0"/>
              <a:t>Model Performance</a:t>
            </a:r>
            <a:r>
              <a:rPr lang="en-IN" dirty="0"/>
              <a:t> </a:t>
            </a:r>
            <a:endParaRPr lang="en-IN" dirty="0"/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IN" dirty="0"/>
              <a:t>Compare different ML/DL models </a:t>
            </a:r>
            <a:endParaRPr lang="en-IN" dirty="0"/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IN" dirty="0"/>
              <a:t>Evaluate prediction accuracy and error </a:t>
            </a:r>
            <a:endParaRPr lang="en-IN" dirty="0"/>
          </a:p>
          <a:p>
            <a:pPr marL="285750" lvl="0" indent="-285750">
              <a:buFont typeface="Calibri" panose="020F0502020204030204" pitchFamily="34" charset="0"/>
              <a:buChar char="•"/>
            </a:pPr>
            <a:r>
              <a:rPr lang="en-IN" b="1" dirty="0"/>
              <a:t>Risk Classification</a:t>
            </a:r>
            <a:r>
              <a:rPr lang="en-IN" dirty="0"/>
              <a:t> </a:t>
            </a:r>
            <a:endParaRPr lang="en-IN" dirty="0"/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IN" dirty="0"/>
              <a:t>Evaluate Low, Medium, and High risk predictions </a:t>
            </a:r>
            <a:endParaRPr lang="en-IN" dirty="0"/>
          </a:p>
          <a:p>
            <a:pPr marL="285750" lvl="0" indent="-285750">
              <a:buFont typeface="Calibri" panose="020F0502020204030204" pitchFamily="34" charset="0"/>
              <a:buChar char="•"/>
            </a:pPr>
            <a:r>
              <a:rPr lang="en-IN" b="1" dirty="0"/>
              <a:t>Explainability</a:t>
            </a:r>
            <a:r>
              <a:rPr lang="en-IN" dirty="0"/>
              <a:t> </a:t>
            </a:r>
            <a:endParaRPr lang="en-IN" dirty="0"/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feature importance using SHAP </a:t>
            </a:r>
            <a:endParaRPr lang="en-IN" dirty="0"/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IN" dirty="0"/>
              <a:t>Interpret individual predictions using LIME</a:t>
            </a:r>
            <a:endParaRPr lang="en-IN" dirty="0"/>
          </a:p>
          <a:p>
            <a:pPr marL="285750" lvl="0" indent="-285750">
              <a:buFont typeface="Calibri" panose="020F0502020204030204" pitchFamily="34" charset="0"/>
              <a:buChar char="•"/>
            </a:pPr>
            <a:r>
              <a:rPr lang="en-IN" b="1" dirty="0"/>
              <a:t>Scalability</a:t>
            </a:r>
            <a:r>
              <a:rPr lang="en-IN" dirty="0"/>
              <a:t> </a:t>
            </a:r>
            <a:endParaRPr lang="en-IN" dirty="0"/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IN" dirty="0"/>
              <a:t>Evaluate large-scale data processing using </a:t>
            </a:r>
            <a:r>
              <a:rPr lang="en-IN" dirty="0" err="1"/>
              <a:t>PySpark</a:t>
            </a:r>
            <a:r>
              <a:rPr lang="en-IN" dirty="0"/>
              <a:t> </a:t>
            </a:r>
            <a:endParaRPr lang="en-IN" dirty="0"/>
          </a:p>
          <a:p>
            <a:pPr marL="285750" lvl="0" indent="-285750">
              <a:buFont typeface="Calibri" panose="020F0502020204030204" pitchFamily="34" charset="0"/>
              <a:buChar char="•"/>
            </a:pPr>
            <a:r>
              <a:rPr lang="en-IN" b="1" dirty="0"/>
              <a:t>API Performance</a:t>
            </a:r>
            <a:r>
              <a:rPr lang="en-IN" dirty="0"/>
              <a:t> </a:t>
            </a:r>
            <a:endParaRPr lang="en-IN" dirty="0"/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IN" dirty="0"/>
              <a:t>Verify successful communication between prediction services and application </a:t>
            </a:r>
            <a:endParaRPr lang="en-IN" dirty="0"/>
          </a:p>
          <a:p>
            <a:pPr marL="285750" lvl="0" indent="-285750">
              <a:buFont typeface="Calibri" panose="020F0502020204030204" pitchFamily="34" charset="0"/>
              <a:buChar char="•"/>
            </a:pPr>
            <a:r>
              <a:rPr lang="en-IN" b="1" dirty="0"/>
              <a:t>System Validation</a:t>
            </a:r>
            <a:r>
              <a:rPr lang="en-IN" dirty="0"/>
              <a:t> </a:t>
            </a:r>
            <a:endParaRPr lang="en-IN" dirty="0"/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IN" dirty="0"/>
              <a:t>Validate predictions, API responses, and dashboard outputs</a:t>
            </a:r>
            <a:endParaRPr lang="en-IN" dirty="0"/>
          </a:p>
          <a:p>
            <a:pPr lvl="1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Outcome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01" y="1578700"/>
            <a:ext cx="10802650" cy="49508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Outcome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" y="1726183"/>
            <a:ext cx="12011025" cy="50032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Outcome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6" y="1726183"/>
            <a:ext cx="11582400" cy="48979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Outcome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8700"/>
            <a:ext cx="12192000" cy="49215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129" y="1209368"/>
            <a:ext cx="1133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Outcome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1726183"/>
            <a:ext cx="10068232" cy="44048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3457" y="1209368"/>
            <a:ext cx="1162172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5657</Words>
  <Application>WPS Presentation</Application>
  <PresentationFormat>Widescreen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Calibri</vt:lpstr>
      <vt:lpstr>Calibri Light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Kruthi</dc:creator>
  <cp:lastModifiedBy>Mrudani Lellapalli</cp:lastModifiedBy>
  <cp:revision>4</cp:revision>
  <dcterms:created xsi:type="dcterms:W3CDTF">2026-08-11T15:03:00Z</dcterms:created>
  <dcterms:modified xsi:type="dcterms:W3CDTF">2026-09-17T09:52:45Z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C21248453C674AB58694759FB8A7D7F3_12</vt:lpwstr>
  </property>
</Properties>
</file>