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6" r:id="rId5"/>
    <p:sldId id="259" r:id="rId6"/>
    <p:sldId id="260" r:id="rId7"/>
    <p:sldId id="262" r:id="rId8"/>
    <p:sldId id="265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C369AA-127D-400A-8CEF-A0B4FF5321F1}" v="6" dt="2026-08-18T06:52:00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itha Pydah" userId="7846ccb4bb5baf20" providerId="LiveId" clId="{7CAC734E-CCA5-46E4-AE9C-3EF3740C4AD6}"/>
    <pc:docChg chg="addSld modSld sldOrd">
      <pc:chgData name="Hasitha Pydah" userId="7846ccb4bb5baf20" providerId="LiveId" clId="{7CAC734E-CCA5-46E4-AE9C-3EF3740C4AD6}" dt="2026-08-18T06:52:17.660" v="65" actId="255"/>
      <pc:docMkLst>
        <pc:docMk/>
      </pc:docMkLst>
      <pc:sldChg chg="modSp mod">
        <pc:chgData name="Hasitha Pydah" userId="7846ccb4bb5baf20" providerId="LiveId" clId="{7CAC734E-CCA5-46E4-AE9C-3EF3740C4AD6}" dt="2026-08-18T06:52:17.660" v="65" actId="255"/>
        <pc:sldMkLst>
          <pc:docMk/>
          <pc:sldMk cId="4126056338" sldId="257"/>
        </pc:sldMkLst>
        <pc:spChg chg="mod">
          <ac:chgData name="Hasitha Pydah" userId="7846ccb4bb5baf20" providerId="LiveId" clId="{7CAC734E-CCA5-46E4-AE9C-3EF3740C4AD6}" dt="2026-08-18T06:52:17.660" v="65" actId="255"/>
          <ac:spMkLst>
            <pc:docMk/>
            <pc:sldMk cId="4126056338" sldId="257"/>
            <ac:spMk id="3" creationId="{5699819D-9AE4-1786-F069-A0431F3580EC}"/>
          </ac:spMkLst>
        </pc:spChg>
      </pc:sldChg>
      <pc:sldChg chg="modSp mod">
        <pc:chgData name="Hasitha Pydah" userId="7846ccb4bb5baf20" providerId="LiveId" clId="{7CAC734E-CCA5-46E4-AE9C-3EF3740C4AD6}" dt="2026-08-12T05:12:27.315" v="0" actId="12"/>
        <pc:sldMkLst>
          <pc:docMk/>
          <pc:sldMk cId="2876978547" sldId="258"/>
        </pc:sldMkLst>
        <pc:spChg chg="mod">
          <ac:chgData name="Hasitha Pydah" userId="7846ccb4bb5baf20" providerId="LiveId" clId="{7CAC734E-CCA5-46E4-AE9C-3EF3740C4AD6}" dt="2026-08-12T05:12:27.315" v="0" actId="12"/>
          <ac:spMkLst>
            <pc:docMk/>
            <pc:sldMk cId="2876978547" sldId="258"/>
            <ac:spMk id="7" creationId="{FE140899-F82B-8F71-68B2-CEBBE5E6CCB1}"/>
          </ac:spMkLst>
        </pc:spChg>
      </pc:sldChg>
      <pc:sldChg chg="modSp mod">
        <pc:chgData name="Hasitha Pydah" userId="7846ccb4bb5baf20" providerId="LiveId" clId="{7CAC734E-CCA5-46E4-AE9C-3EF3740C4AD6}" dt="2026-08-12T05:15:14.445" v="18" actId="14100"/>
        <pc:sldMkLst>
          <pc:docMk/>
          <pc:sldMk cId="4122930922" sldId="260"/>
        </pc:sldMkLst>
        <pc:spChg chg="mod">
          <ac:chgData name="Hasitha Pydah" userId="7846ccb4bb5baf20" providerId="LiveId" clId="{7CAC734E-CCA5-46E4-AE9C-3EF3740C4AD6}" dt="2026-08-12T05:15:14.445" v="18" actId="14100"/>
          <ac:spMkLst>
            <pc:docMk/>
            <pc:sldMk cId="4122930922" sldId="260"/>
            <ac:spMk id="7" creationId="{7AC1FE44-BE37-8D0A-E331-80ED3F206965}"/>
          </ac:spMkLst>
        </pc:spChg>
      </pc:sldChg>
      <pc:sldChg chg="modSp mod ord">
        <pc:chgData name="Hasitha Pydah" userId="7846ccb4bb5baf20" providerId="LiveId" clId="{7CAC734E-CCA5-46E4-AE9C-3EF3740C4AD6}" dt="2026-08-13T08:22:13.534" v="61" actId="113"/>
        <pc:sldMkLst>
          <pc:docMk/>
          <pc:sldMk cId="391682972" sldId="261"/>
        </pc:sldMkLst>
        <pc:spChg chg="mod">
          <ac:chgData name="Hasitha Pydah" userId="7846ccb4bb5baf20" providerId="LiveId" clId="{7CAC734E-CCA5-46E4-AE9C-3EF3740C4AD6}" dt="2026-08-13T08:22:13.534" v="61" actId="113"/>
          <ac:spMkLst>
            <pc:docMk/>
            <pc:sldMk cId="391682972" sldId="261"/>
            <ac:spMk id="7" creationId="{406DCC08-59FF-F838-F834-C9C56C71F7DE}"/>
          </ac:spMkLst>
        </pc:spChg>
      </pc:sldChg>
      <pc:sldChg chg="ord">
        <pc:chgData name="Hasitha Pydah" userId="7846ccb4bb5baf20" providerId="LiveId" clId="{7CAC734E-CCA5-46E4-AE9C-3EF3740C4AD6}" dt="2026-08-12T05:18:48.204" v="27"/>
        <pc:sldMkLst>
          <pc:docMk/>
          <pc:sldMk cId="3167934985" sldId="264"/>
        </pc:sldMkLst>
      </pc:sldChg>
      <pc:sldChg chg="addSp modSp add mod">
        <pc:chgData name="Hasitha Pydah" userId="7846ccb4bb5baf20" providerId="LiveId" clId="{7CAC734E-CCA5-46E4-AE9C-3EF3740C4AD6}" dt="2026-08-12T05:17:24.245" v="21" actId="1076"/>
        <pc:sldMkLst>
          <pc:docMk/>
          <pc:sldMk cId="2861219733" sldId="265"/>
        </pc:sldMkLst>
        <pc:spChg chg="mod">
          <ac:chgData name="Hasitha Pydah" userId="7846ccb4bb5baf20" providerId="LiveId" clId="{7CAC734E-CCA5-46E4-AE9C-3EF3740C4AD6}" dt="2026-08-12T05:13:35.735" v="14" actId="2711"/>
          <ac:spMkLst>
            <pc:docMk/>
            <pc:sldMk cId="2861219733" sldId="265"/>
            <ac:spMk id="5" creationId="{0C016CA3-25A1-45EF-692E-5F7BF2662C69}"/>
          </ac:spMkLst>
        </pc:spChg>
        <pc:spChg chg="mod">
          <ac:chgData name="Hasitha Pydah" userId="7846ccb4bb5baf20" providerId="LiveId" clId="{7CAC734E-CCA5-46E4-AE9C-3EF3740C4AD6}" dt="2026-08-12T05:14:22.542" v="17" actId="14100"/>
          <ac:spMkLst>
            <pc:docMk/>
            <pc:sldMk cId="2861219733" sldId="265"/>
            <ac:spMk id="8" creationId="{B934B8AE-5895-44DD-762D-C686E5B4B509}"/>
          </ac:spMkLst>
        </pc:spChg>
        <pc:picChg chg="add mod">
          <ac:chgData name="Hasitha Pydah" userId="7846ccb4bb5baf20" providerId="LiveId" clId="{7CAC734E-CCA5-46E4-AE9C-3EF3740C4AD6}" dt="2026-08-12T05:17:24.245" v="21" actId="1076"/>
          <ac:picMkLst>
            <pc:docMk/>
            <pc:sldMk cId="2861219733" sldId="265"/>
            <ac:picMk id="6" creationId="{B8BE025A-0FDE-BE66-AA13-183FA0FD39C8}"/>
          </ac:picMkLst>
        </pc:picChg>
      </pc:sldChg>
      <pc:sldChg chg="addSp delSp modSp add mod">
        <pc:chgData name="Hasitha Pydah" userId="7846ccb4bb5baf20" providerId="LiveId" clId="{7CAC734E-CCA5-46E4-AE9C-3EF3740C4AD6}" dt="2026-08-12T05:24:06.652" v="33"/>
        <pc:sldMkLst>
          <pc:docMk/>
          <pc:sldMk cId="3000055580" sldId="266"/>
        </pc:sldMkLst>
        <pc:picChg chg="add mod">
          <ac:chgData name="Hasitha Pydah" userId="7846ccb4bb5baf20" providerId="LiveId" clId="{7CAC734E-CCA5-46E4-AE9C-3EF3740C4AD6}" dt="2026-08-12T05:24:04.732" v="31" actId="14100"/>
          <ac:picMkLst>
            <pc:docMk/>
            <pc:sldMk cId="3000055580" sldId="266"/>
            <ac:picMk id="5" creationId="{C5BD25F9-90D9-8A02-2965-D2D66B276FF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346B-A300-6ABB-2A6B-7B2F3458F5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47280-3B4E-1CD4-1D05-22D834806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881AE-2E37-67DA-83BD-D6893E309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6ECEF-5221-B734-A1F2-F85C107D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A47F1-8BB6-F7C6-86C3-CBB30AE2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998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4D34A-9B5E-ED11-002C-AEC2EC01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03528-11E8-CBCC-689F-C92509C7B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F3807-4416-2C3C-67B9-51EF86581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F237-8C9E-8457-01B3-155BB08AF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2A0B2-DE1C-DF02-2FCB-0D213E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270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EF4A-9D62-A9E3-5199-0AF8C54B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D8BB5-7155-6722-7673-85F522092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C6DF3-DBAC-29CB-8882-E2EC172FD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D9F55-E5E5-E445-B801-95FCA91A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FE918-98F7-EA64-518B-7EEBCEBB9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86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AFBC2-C1EC-117A-5E70-A9F4BDF10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F5218-07A5-2A49-B074-815C7B999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DC8EC-8D71-9BFC-9FAD-79C64E599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4EE3F-1E41-1FBF-1E19-A88502574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FB1F3-8979-3C31-13E7-76C4B196C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9A289-6E1E-A70D-2612-7E8F62126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88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ED10-6C7A-BF11-1D65-30920801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91354-6FBD-F3AE-0864-F42B4AC1B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8810F-9CFB-18BC-C1A2-5E44967E4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C1CAC3-A3EF-9A8B-9188-D9A116213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EF29AD-68D3-0F9E-851A-64F180760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6F5E7-5296-68D1-EEBB-D302E5138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24E794-22B8-B7BF-2CDB-DD22A84D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DB0B55-4F87-C73A-B838-5B99F553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05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461DD-8053-3225-19EE-56C0C28D0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8F29C-1F83-17E9-7068-FA0E46F1C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34B14-1227-33CF-2B00-ECCFAAA20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38CACD-20C3-E6D5-5A37-8C5D4D97C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254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0A54B-188B-E9F7-6E75-0BFD561FE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20F23-04C0-8FE1-A1A5-ABAD605B7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FF99B-D2EA-5608-9643-186B37026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194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27E00-9D1F-7D84-C829-F4398DFA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11448-1553-A19A-98DC-523929D61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C721E-2B25-AD77-63C4-A61BED051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63C22-7474-C49C-BF32-A4624FE93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4C2BF-1927-5814-AA22-EF0D6A48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8A6CA-4918-556C-D33E-8B7629D9D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40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6DE7-E7D0-D097-2FC0-9B34ECF5B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FF8461-8E34-8390-C226-AEE95ABF1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41157-B4CD-C91B-C761-79B2BB086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99094-32F7-AFDD-75C9-A754B38D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66191-FD84-09CE-4A37-7D18C125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E7A2B-B0AF-8219-5AB2-41C3FCFF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185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1E7C-4C05-FD88-B6E1-E5110FB41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64D44-9520-BC0F-4849-5358ED14F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DD94F-0FD2-C674-667F-FF0574A5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120F8-FE79-9B8D-3D5D-EAB034C1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0F1E2-FA38-6278-3BE8-272ADEAD0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53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6F8D1-5789-6034-DE61-27BED005B6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AD657-1456-1622-AABB-F4FBF46BC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20FD0-1F34-93D8-8C49-61281D80A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5366-573A-4AC7-796C-8651AF4F1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E2D73-4C73-1D35-2FFB-FB2A7BD6C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950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6EF7E1-BE0A-3B8C-7CF1-660D93D03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23ECD-5842-9402-B285-56E4D6B28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1D9E7-C8B3-F71F-38FA-22C8A596EF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B6846-2CD3-48A4-A3BF-085B63675F5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56071-8E5F-5A95-BC0B-A7EE59E40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84D61-3432-F580-FD41-DB591D13A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520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4535-77B2-B96B-E1AC-A0F7F8BF4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D067A-3872-0170-42F2-2A0A154AE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9819D-9AE4-1786-F069-A0431F358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457" y="1465006"/>
            <a:ext cx="11464413" cy="50144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VISUALIZATION(24DSB3101)</a:t>
            </a:r>
          </a:p>
          <a:p>
            <a:pPr>
              <a:lnSpc>
                <a:spcPct val="100000"/>
              </a:lnSpc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Explainable AI-Driven Big Data Analytics Framework for Climate Prediction and Environmental Risk Assessment</a:t>
            </a:r>
          </a:p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– 6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2420030591 – L. Mrudani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2420090003 – Sri Kruthi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2420090107 – P. Hasitha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8CEF18-29FE-FD8E-EADF-E065494AC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56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26C8E-74D4-56A0-1C92-DC5AFCE7A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F4D23-FC44-CA2A-7A31-322002B9A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1A8570-8B49-497E-BB5D-7C85C0AD2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140899-F82B-8F71-68B2-CEBBE5E6CCB1}"/>
              </a:ext>
            </a:extLst>
          </p:cNvPr>
          <p:cNvSpPr txBox="1"/>
          <p:nvPr/>
        </p:nvSpPr>
        <p:spPr>
          <a:xfrm>
            <a:off x="275303" y="1445342"/>
            <a:ext cx="11621729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 produces large and complex datasets involving temperature, rainfall, greenhouse gases, sea levels, extreme weather events, and other environmental indicators.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AI and machine-learning models can provide accurate predictions, but many of them operate as black-box models, making it difficult to understand why a particular climate or environmental risk prediction was generated.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scalable Big Data Analytics and Explainable AI (XAI) framework that can predict climate-related risks while providing understandable explanations of the factors influencing those predictions.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697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4A8BB-6655-323C-BD59-3864881B6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0FD0-92BE-DD79-0048-82D2A7F1F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CF87CF-47F8-0BA7-393E-9224B3A6C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6DCC08-59FF-F838-F834-C9C56C71F7DE}"/>
              </a:ext>
            </a:extLst>
          </p:cNvPr>
          <p:cNvSpPr txBox="1"/>
          <p:nvPr/>
        </p:nvSpPr>
        <p:spPr>
          <a:xfrm>
            <a:off x="275303" y="1445342"/>
            <a:ext cx="11621729" cy="6386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To identify </a:t>
            </a:r>
            <a:r>
              <a:rPr lang="en-IN" sz="2000" dirty="0"/>
              <a:t>and visualize important climate and environmental trends, patterns, relationships, and risks through comprehensive data analysis.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To leverage </a:t>
            </a:r>
            <a:r>
              <a:rPr lang="en-IN" sz="2000" dirty="0"/>
              <a:t>predictive analytics and explainable AI techniques to identify environmental risk levels and the factors influencing them.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system, we propose a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Multi-Source Climate Intelligence Framework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integrates weather, satellite, IoT, and historical disaster data using Big Data Analytics, Machine Learning, and Explainable AI for comprehensive environmental risk prediction.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To provide </a:t>
            </a:r>
            <a:r>
              <a:rPr lang="en-IN" sz="2000" dirty="0"/>
              <a:t>clear, interactive, and data-driven insights that can support environmental monitoring, planning, and informed decision-making.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To develop </a:t>
            </a:r>
            <a:r>
              <a:rPr lang="en-IN" sz="2000" dirty="0"/>
              <a:t>an interactive data analytics dashboard for </a:t>
            </a:r>
            <a:r>
              <a:rPr lang="en-IN" sz="2000" dirty="0" err="1"/>
              <a:t>analyzing</a:t>
            </a:r>
            <a:r>
              <a:rPr lang="en-IN" sz="2000" dirty="0"/>
              <a:t> climate and environmental data from multiple sources.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/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82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595D0-D74A-3F8E-8E98-E44102880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5CCED-8132-1981-BC27-550162F7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147D8A-5FAA-DE30-663A-8DDDA7F25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BD25F9-90D9-8A02-2965-D2D66B276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90" y="1376516"/>
            <a:ext cx="10291020" cy="548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55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18025-21EF-3F8B-75C6-642992D6E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4F4E-143D-2080-E350-23D719D98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B32911-F38C-C005-8217-BBE147E25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B6ED0B-665E-A074-384E-EBB3B400DD6C}"/>
              </a:ext>
            </a:extLst>
          </p:cNvPr>
          <p:cNvSpPr txBox="1"/>
          <p:nvPr/>
        </p:nvSpPr>
        <p:spPr>
          <a:xfrm>
            <a:off x="275303" y="1445342"/>
            <a:ext cx="1162172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DCD322-74CD-3324-41A8-BB44B4C3FB7E}"/>
              </a:ext>
            </a:extLst>
          </p:cNvPr>
          <p:cNvSpPr txBox="1"/>
          <p:nvPr/>
        </p:nvSpPr>
        <p:spPr>
          <a:xfrm>
            <a:off x="471948" y="1966452"/>
            <a:ext cx="112579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Climate Prediction using AI/ML: </a:t>
            </a:r>
            <a:r>
              <a:rPr lang="en-IN" dirty="0"/>
              <a:t>Previous studies have used machine learning algorithms such as Random Forest, SVM, and neural networks to predict climate variables like temperature, rainfall, and extreme weather 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Big Data for Environmental Analysis: </a:t>
            </a:r>
            <a:r>
              <a:rPr lang="en-IN" dirty="0"/>
              <a:t>Researchers have used large-scale climate and environmental datasets from satellites, sensors, and government sources to identify patterns and improve prediction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Explainable AI (XAI): </a:t>
            </a:r>
            <a:r>
              <a:rPr lang="en-IN" dirty="0"/>
              <a:t>Techniques such as SHAP, LIME, and feature importance have been applied to explain AI predictions, making climate-risk models more transparent and understandable.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Environmental Risk Prediction: </a:t>
            </a:r>
            <a:r>
              <a:rPr lang="en-IN" dirty="0"/>
              <a:t>Recent research focuses on predicting risks such as floods, droughts, heatwaves, wildfires, and other climate-related disasters using AI-based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Research Gap: </a:t>
            </a:r>
            <a:r>
              <a:rPr lang="en-IN" dirty="0"/>
              <a:t>Many existing models focus mainly on prediction accuracy, while limited work combines big-data analytics, climate prediction, environmental risk assessment, and explainability in a single framework. This creates an opportunity for an integrated XAI-based climate risk prediction system.</a:t>
            </a:r>
          </a:p>
        </p:txBody>
      </p:sp>
    </p:spTree>
    <p:extLst>
      <p:ext uri="{BB962C8B-B14F-4D97-AF65-F5344CB8AC3E}">
        <p14:creationId xmlns:p14="http://schemas.microsoft.com/office/powerpoint/2010/main" val="4202115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EF30E-0868-8DD3-1239-06780599F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DEFF-AED1-8F7C-F9BD-4E664E77C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C7D374-406B-950E-C52F-8F410C04E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C1FE44-BE37-8D0A-E331-80ED3F206965}"/>
              </a:ext>
            </a:extLst>
          </p:cNvPr>
          <p:cNvSpPr txBox="1"/>
          <p:nvPr/>
        </p:nvSpPr>
        <p:spPr>
          <a:xfrm>
            <a:off x="275303" y="1445342"/>
            <a:ext cx="11464413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Identification: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Many climate prediction models focus primarily on </a:t>
            </a:r>
            <a:r>
              <a:rPr lang="en-IN" b="1" dirty="0"/>
              <a:t>prediction accuracy</a:t>
            </a:r>
            <a:r>
              <a:rPr lang="en-IN" dirty="0"/>
              <a:t> rather than interpretability.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Several AI-based climate models function as </a:t>
            </a:r>
            <a:r>
              <a:rPr lang="en-IN" b="1" dirty="0"/>
              <a:t>black boxes</a:t>
            </a:r>
            <a:r>
              <a:rPr lang="en-IN" dirty="0"/>
              <a:t>, making their decisions difficult for environmental researchers and policymakers to understand.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Existing studies often focus on </a:t>
            </a:r>
            <a:r>
              <a:rPr lang="en-IN" b="1" dirty="0"/>
              <a:t>one climate variable or one type of environmental risk</a:t>
            </a:r>
            <a:r>
              <a:rPr lang="en-IN" dirty="0"/>
              <a:t> rather than combining multiple factors.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Large-scale heterogeneous climate datasets create challenges in </a:t>
            </a:r>
            <a:r>
              <a:rPr lang="en-IN" b="1" dirty="0"/>
              <a:t>data processing and scalability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XAI techniques are not consistently integrated with </a:t>
            </a:r>
            <a:r>
              <a:rPr lang="en-IN" b="1" dirty="0"/>
              <a:t>Big Data-based climate analytics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Limited research combines </a:t>
            </a:r>
            <a:r>
              <a:rPr lang="en-IN" b="1" dirty="0"/>
              <a:t>climate prediction + environmental risk assessment + explainability</a:t>
            </a:r>
            <a:r>
              <a:rPr lang="en-IN" dirty="0"/>
              <a:t> in a single framework.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Many studies evaluate models technically but provide limited explanation of </a:t>
            </a:r>
            <a:r>
              <a:rPr lang="en-IN" b="1" dirty="0"/>
              <a:t>which environmental factors drive the predicted risk</a:t>
            </a:r>
            <a:r>
              <a:rPr lang="en-IN" dirty="0"/>
              <a:t>.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930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13BE5-8847-DB74-2A60-4A7ADCBE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81BA-35D5-5274-F631-1D783B07D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CACB53-CE5E-7C96-1091-A4F3EE711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40BDBC-99E3-2D92-00A3-EB2C60E48851}"/>
              </a:ext>
            </a:extLst>
          </p:cNvPr>
          <p:cNvSpPr txBox="1"/>
          <p:nvPr/>
        </p:nvSpPr>
        <p:spPr>
          <a:xfrm>
            <a:off x="275303" y="1445342"/>
            <a:ext cx="1162172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92F2BB-A92D-A792-967E-342461FE0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7793"/>
            <a:ext cx="12192000" cy="497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8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AF4E7-0B36-EB1D-1B5A-CA4AB0BB7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5EA11-79B7-327D-14A3-90EF6C31C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40C17A-C1F2-3B3D-CBAA-99F0A32CB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016CA3-25A1-45EF-692E-5F7BF2662C69}"/>
              </a:ext>
            </a:extLst>
          </p:cNvPr>
          <p:cNvSpPr txBox="1"/>
          <p:nvPr/>
        </p:nvSpPr>
        <p:spPr>
          <a:xfrm>
            <a:off x="344129" y="1209368"/>
            <a:ext cx="1133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and Its Uniqueness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4B8AE-5895-44DD-762D-C686E5B4B509}"/>
              </a:ext>
            </a:extLst>
          </p:cNvPr>
          <p:cNvSpPr txBox="1"/>
          <p:nvPr/>
        </p:nvSpPr>
        <p:spPr>
          <a:xfrm>
            <a:off x="452285" y="1681316"/>
            <a:ext cx="50439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</a:t>
            </a:r>
            <a:r>
              <a:rPr lang="en-IN" b="1" dirty="0"/>
              <a:t>Combines climate change prediction and environmental risk analysis</a:t>
            </a:r>
            <a:r>
              <a:rPr lang="en-IN" dirty="0"/>
              <a:t> in one system.</a:t>
            </a:r>
            <a:br>
              <a:rPr lang="en-IN" dirty="0"/>
            </a:br>
            <a:r>
              <a:rPr lang="en-IN" dirty="0"/>
              <a:t>- Uses </a:t>
            </a:r>
            <a:r>
              <a:rPr lang="en-IN" b="1" dirty="0"/>
              <a:t>multiple environmental and climate factors</a:t>
            </a:r>
            <a:r>
              <a:rPr lang="en-IN" dirty="0"/>
              <a:t> instead of focusing on a single hazard.</a:t>
            </a:r>
            <a:br>
              <a:rPr lang="en-IN" dirty="0"/>
            </a:br>
            <a:r>
              <a:rPr lang="en-IN" dirty="0"/>
              <a:t>- Integrates </a:t>
            </a:r>
            <a:r>
              <a:rPr lang="en-IN" b="1" dirty="0"/>
              <a:t>Big Data Analytics + Machine Learning + Explainable AI (XAI)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Provides </a:t>
            </a:r>
            <a:r>
              <a:rPr lang="en-IN" b="1" dirty="0"/>
              <a:t>explanations for predictions</a:t>
            </a:r>
            <a:r>
              <a:rPr lang="en-IN" dirty="0"/>
              <a:t>, showing which factors contributed to the risk level.</a:t>
            </a:r>
            <a:br>
              <a:rPr lang="en-IN" dirty="0"/>
            </a:br>
            <a:r>
              <a:rPr lang="en-IN" dirty="0"/>
              <a:t>- Aims to provide </a:t>
            </a:r>
            <a:r>
              <a:rPr lang="en-IN" b="1" dirty="0"/>
              <a:t>risk classification and early-warning insights</a:t>
            </a:r>
            <a:r>
              <a:rPr lang="en-IN" dirty="0"/>
              <a:t>, making the model more useful for real-world environmental decision-making.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BE025A-0FDE-BE66-AA13-183FA0FD3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175" y="1578700"/>
            <a:ext cx="5241823" cy="419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219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5C4F-1BE8-B335-F52A-6D7ECAB0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57C1-1F23-032F-3DE7-FB7A1CB73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B0A3CF-0FD1-3AE1-D684-DAED45530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422584-9AF2-2FF3-0686-83D81B120EE4}"/>
              </a:ext>
            </a:extLst>
          </p:cNvPr>
          <p:cNvSpPr txBox="1"/>
          <p:nvPr/>
        </p:nvSpPr>
        <p:spPr>
          <a:xfrm>
            <a:off x="344129" y="1209368"/>
            <a:ext cx="1133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774A86-9B3B-2166-378D-A2635D863014}"/>
              </a:ext>
            </a:extLst>
          </p:cNvPr>
          <p:cNvSpPr txBox="1"/>
          <p:nvPr/>
        </p:nvSpPr>
        <p:spPr>
          <a:xfrm>
            <a:off x="452284" y="1681316"/>
            <a:ext cx="115430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“Comparative Analysis of Various Machine Learning Models That Aim at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Climate Change and Extreme Weather Patterns,”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 Publication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“Prediction of Flooding Due to Heavy Rainfall in India Using Machine Learning Algorithms: Providing Advanced Warning,”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Xplore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“Predicting and Mapping Flood Susceptibility: Leveraging Explainable AI and GIS Techniques,”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 Publication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“Flood Risk Assessment and Interpretation Using Explainable AI,”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 Publication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“Explainability of Machine Learning Models for Hydrological Time Series Forecasting: The Case of Neuro-Fuzzy Approaches,”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 Publication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“Maximizing Prediction Accuracy in Wildfire Severity: A Comprehensive Analysis of Machine Learning Models Using Environmental Features,”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 Publication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“Flood Forecasting with Classical and Quantum Machine Learning Models: A Comparative Analysis,”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 Publication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“Federated Learning-Based Flood Forecasting Model Enhancing Predictive Accuracy and Privacy in Flood Prediction,”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 Publication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“Flood Prediction and Adaptive Farming Solutions Using IoT, Machine Learning, and Remote Sensing for Climate-Resilient Agriculture,”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 Publication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“AI and Climate Protection: Research Gaps and Needs to Align Machine Learning with Greenhouse Gas Reductions,”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 Publication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</p:txBody>
      </p:sp>
    </p:spTree>
    <p:extLst>
      <p:ext uri="{BB962C8B-B14F-4D97-AF65-F5344CB8AC3E}">
        <p14:creationId xmlns:p14="http://schemas.microsoft.com/office/powerpoint/2010/main" val="3167934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8B70C-0909-701E-B9AF-480E5FF1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8CB40-A5A6-A7D0-1FA3-796A40340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2BF7EC-3EA7-2A69-7F10-A930A5E46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EDBB57-8CE5-332F-2CF6-247290353016}"/>
              </a:ext>
            </a:extLst>
          </p:cNvPr>
          <p:cNvSpPr txBox="1"/>
          <p:nvPr/>
        </p:nvSpPr>
        <p:spPr>
          <a:xfrm>
            <a:off x="383457" y="1209368"/>
            <a:ext cx="11621729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</a:t>
            </a:r>
          </a:p>
          <a:p>
            <a:pPr algn="ctr"/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3239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913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Kruthi</dc:creator>
  <cp:lastModifiedBy>Hasitha Pydah</cp:lastModifiedBy>
  <cp:revision>2</cp:revision>
  <dcterms:created xsi:type="dcterms:W3CDTF">2026-08-11T15:03:11Z</dcterms:created>
  <dcterms:modified xsi:type="dcterms:W3CDTF">2026-08-18T06:52:19Z</dcterms:modified>
</cp:coreProperties>
</file>